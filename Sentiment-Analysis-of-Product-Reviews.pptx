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3" r:id="rId18"/>
    <p:sldId id="269" r:id="rId19"/>
    <p:sldId id="270" r:id="rId20"/>
    <p:sldId id="271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D1B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 panose="020B0604020202020204"/>
              </a:rPr>
              <a:t>Review Counts by Sentiment</a:t>
            </a:r>
            <a:endParaRPr sz="1200" b="0" i="0" u="none" strike="noStrike">
              <a:solidFill>
                <a:srgbClr val="0D1B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8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37474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14350</c:v>
                </c:pt>
                <c:pt idx="1">
                  <c:v>885</c:v>
                </c:pt>
                <c:pt idx="2">
                  <c:v>5820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74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07D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a00f854-e4f2-4550-943e-4db8d62bae6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D1B2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 panose="020B0604020202020204"/>
              </a:rPr>
              <a:t>Sentiment Proportions</a:t>
            </a:r>
            <a:endParaRPr sz="1200" b="0" i="0" u="none" strike="noStrike">
              <a:solidFill>
                <a:srgbClr val="0D1B2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bubble3D val="0"/>
            <c:spPr>
              <a:solidFill>
                <a:srgbClr val="FB8C0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 (68.2%)</c:v>
                </c:pt>
                <c:pt idx="1">
                  <c:v>Positive (27.6%)</c:v>
                </c:pt>
                <c:pt idx="2">
                  <c:v>Neutral (4.2%)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</c:v>
                </c:pt>
                <c:pt idx="1">
                  <c:v>27.6</c:v>
                </c:pt>
                <c:pt idx="2">
                  <c:v>4.2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2cad525-d903-4783-bc0c-151c899142a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97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37474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Gradient Boosting</c:v>
                </c:pt>
                <c:pt idx="2">
                  <c:v>Linear SVM</c:v>
                </c:pt>
                <c:pt idx="3">
                  <c:v>Multinomial NB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0.7829</c:v>
                </c:pt>
                <c:pt idx="1">
                  <c:v>0.8732</c:v>
                </c:pt>
                <c:pt idx="2">
                  <c:v>0.8858</c:v>
                </c:pt>
                <c:pt idx="3">
                  <c:v>0.8563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37474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Gradient Boosting</c:v>
                </c:pt>
                <c:pt idx="2">
                  <c:v>Linear SVM</c:v>
                </c:pt>
                <c:pt idx="3">
                  <c:v>Multinomial NB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0.631</c:v>
                </c:pt>
                <c:pt idx="1">
                  <c:v>0.6789</c:v>
                </c:pt>
                <c:pt idx="2">
                  <c:v>0.5814</c:v>
                </c:pt>
                <c:pt idx="3">
                  <c:v>0.5738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37474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Gradient Boosting</c:v>
                </c:pt>
                <c:pt idx="2">
                  <c:v>Linear SVM</c:v>
                </c:pt>
                <c:pt idx="3">
                  <c:v>Multinomial NB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0.6745</c:v>
                </c:pt>
                <c:pt idx="1">
                  <c:v>0.5973</c:v>
                </c:pt>
                <c:pt idx="2">
                  <c:v>0.5995</c:v>
                </c:pt>
                <c:pt idx="3">
                  <c:v>0.557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FFD6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37474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Gradient Boosting</c:v>
                </c:pt>
                <c:pt idx="2">
                  <c:v>Linear SVM</c:v>
                </c:pt>
                <c:pt idx="3">
                  <c:v>Multinomial NB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0.6189</c:v>
                </c:pt>
                <c:pt idx="1">
                  <c:v>0.5999</c:v>
                </c:pt>
                <c:pt idx="2">
                  <c:v>0.5902</c:v>
                </c:pt>
                <c:pt idx="3">
                  <c:v>0.561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74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07D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8b918c6-6eab-40f8-ab58-36b62e75808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4843463"/>
            <a:ext cx="1076628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4843463"/>
            <a:ext cx="1076628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97A7">
              <a:alpha val="35000"/>
            </a:srgbClr>
          </a:solidFill>
          <a:ln w="12700">
            <a:solidFill>
              <a:srgbClr val="0097A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" cy="2286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6858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6858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Reviews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TF-IDF and Machine Learning Classifiers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4754880" cy="54864"/>
          </a:xfrm>
          <a:prstGeom prst="rect">
            <a:avLst/>
          </a:prstGeom>
          <a:solidFill>
            <a:srgbClr val="0097A7">
              <a:alpha val="60000"/>
            </a:srgbClr>
          </a:solidFill>
          <a:ln w="12700">
            <a:solidFill>
              <a:srgbClr val="0097A7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ANU GOPAL V  ·  RASHA K K  ·  MUHAMMED SHAHID 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85876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 ·  Academic Year 2025–26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116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2011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515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2423160" cy="1399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customer reviews from Amazon as Positive, Negative, or Neutral using traditional ML — no deep learning.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960120"/>
            <a:ext cx="64008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0515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55848" y="1481328"/>
            <a:ext cx="2423160" cy="1399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21,055 Amazon reviews. Ratings mapped: 1–2★ → Negative, 3★ → Neutral, 4–5★ → Positive.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71616" y="9601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71616" y="960120"/>
            <a:ext cx="64008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972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65976" y="10515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4496" y="1481328"/>
            <a:ext cx="2423160" cy="1399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 unigrams/bigrams + handcrafted linguistic features + Chi-Square / Mutual Information selection.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21,055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cleaning &amp; preprocessing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96012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960120"/>
            <a:ext cx="196596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0972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9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32888" y="176479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Reviews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07568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14,350 samples — dominant class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960120"/>
            <a:ext cx="196596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0972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3A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0016" y="176479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Reviews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207568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5,820 samples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75704" y="96012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960120"/>
            <a:ext cx="1965960" cy="54864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0972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8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67144" y="176479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Reviews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67144" y="2075688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885 samples — minority class</a:t>
            </a:r>
            <a:endParaRPr lang="en-US" sz="9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65176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6" name="Chart 1"/>
          <p:cNvGraphicFramePr/>
          <p:nvPr/>
        </p:nvGraphicFramePr>
        <p:xfrm>
          <a:off x="5486400" y="2651760"/>
          <a:ext cx="3383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Challenges &amp; Observations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51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 of reviews are Negative. This biases models toward the majority class, making accuracy a misleading metric. Macro F1 is used as primary metric.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64008" cy="17830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051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 in Text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148132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contain URLs, HTML tags, special characters, emojis, and inconsistent casing — all requiring systematic preprocessing.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880360"/>
            <a:ext cx="64008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971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&amp; Inconsistent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40156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lengths vary dramatically from single words to long paragraphs, making fixed-length feature extraction challenging.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880360"/>
            <a:ext cx="64008" cy="17830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0175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971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Negative Signal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92040" y="340156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reviews showed the strongest TF-IDF signals. Words like 'worst', 'terrible', 'broken', and negation patterns were highly discriminative.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8288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Lowercasing · HTML removal · Special char filtering · Stopword elimination · Tokenisation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2633472"/>
            <a:ext cx="15544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20116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98755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176479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TF-IDF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377440"/>
            <a:ext cx="18288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Unigrams &amp; bigrams · Sublinear TF scaling · max 15,000 features · min_df=2, max_df=0.95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53128" y="2633472"/>
            <a:ext cx="15544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960120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98755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0016" y="176479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Linguistic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0016" y="2377440"/>
            <a:ext cx="18288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length · Punctuation density · Avg word length · Negation word presence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0256" y="2633472"/>
            <a:ext cx="15544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5704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75704" y="960120"/>
            <a:ext cx="2011680" cy="7772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987552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67144" y="176479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67144" y="2377440"/>
            <a:ext cx="18288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Sparse TF-IDF matrix + 4 dense linguistic features via scipy.hstack into combined matrix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Selection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789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Chi-Square Test  (χ²)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664208"/>
            <a:ext cx="3840480" cy="2999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independence test between each feature and class labels.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500 features selected based on χ² score.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with near-uniform distribution across classes are discarded as uninformative, reducing dimensionality and noise.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60120"/>
            <a:ext cx="420624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0789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Information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664208"/>
            <a:ext cx="3840480" cy="2999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Information-theoretic measure of dependency between features and sentiment classes.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300 most informative features extracted for comparative analysis.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non-linear dependencies that Chi-Square may miss.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06424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05156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886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classifier with L2 regularization and balanced class weights. Fast training with probabilistic outputs and interpretable coefficients.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64008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106424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106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76672" y="105156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Multinomial Naive Bayes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886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Probabilistic classifier assuming feature independence. Highly efficient for text classification with Laplace smoothing (α = 0.5).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64008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026664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29718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SVM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3886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Maximum-margin classifier with calibrated probabilities. Handles high-dimensional sparse feature spaces effectively. C=1.0, max_iter=2000.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80360"/>
            <a:ext cx="64008" cy="17830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3026664"/>
            <a:ext cx="384048" cy="384048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026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29718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8862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of 150 trees with sequential error correction. Most computationally expensive (28s) but captures complex non-linear patterns.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— Key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10058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481328"/>
            <a:ext cx="7635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SVM achieved the highest raw accuracy at 88.65%. However, accuracy is misleading on this imbalanced dataset — SVM nearly ignores the Neutral class entirely (F1 ≈ 0.00).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32304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323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3591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 F1 (Primary)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834640"/>
            <a:ext cx="7635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led with Macro F1 = 0.6189, balancing precision and recall across all three classes including the minority Neutral class (recall = 43%).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85616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856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71246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4187952"/>
            <a:ext cx="7635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Multinomial NB was fastest (~0.01s). Gradient Boosting slowest at 28s but offered the best precision (0.6789). Linear SVM struck the best speed/accuracy trade-off.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 — Logistic Regression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46888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78.3%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67919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2095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 F1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43814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63.1%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37398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96849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427024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960120"/>
            <a:ext cx="5943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9601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9601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9601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9601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96012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1371600"/>
            <a:ext cx="5943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1371600"/>
            <a:ext cx="64008" cy="10972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808" y="1691640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429000" y="169164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60520" y="169164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303520" y="169164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0.80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46520" y="169164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0.87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89520" y="169164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2,870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926080" y="2560320"/>
            <a:ext cx="5943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26080" y="2560320"/>
            <a:ext cx="64008" cy="10972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880360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429000" y="288036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160520" y="288036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0.11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5303520" y="288036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0.43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6446520" y="288036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0.18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589520" y="288036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177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2926080" y="3749040"/>
            <a:ext cx="594360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926080" y="3749040"/>
            <a:ext cx="64008" cy="10972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4069080"/>
            <a:ext cx="347472" cy="34747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429000" y="40690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4160520" y="406908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0.83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5303520" y="406908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0.79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6446520" y="406908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0.81</a:t>
            </a:r>
            <a:endParaRPr lang="en-US" sz="1500" dirty="0"/>
          </a:p>
        </p:txBody>
      </p:sp>
      <p:sp>
        <p:nvSpPr>
          <p:cNvPr id="45" name="Text 40"/>
          <p:cNvSpPr/>
          <p:nvPr/>
        </p:nvSpPr>
        <p:spPr>
          <a:xfrm>
            <a:off x="7589520" y="4069080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1,164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Results by Class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91640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39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65760" y="24871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7980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Reviews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39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95%  ·  Recall: 80%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5204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samples correctly identified. High precision = low false positives.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7296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72968" y="960120"/>
            <a:ext cx="274320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0972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64408" y="1691640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3A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4600" dirty="0"/>
          </a:p>
        </p:txBody>
      </p:sp>
      <p:sp>
        <p:nvSpPr>
          <p:cNvPr id="17" name="Text 13"/>
          <p:cNvSpPr/>
          <p:nvPr/>
        </p:nvSpPr>
        <p:spPr>
          <a:xfrm>
            <a:off x="3264408" y="24871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64408" y="27980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Reviews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64408" y="3200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A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83%  ·  Recall: 79%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10128" y="35204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precision and recall. Solid performance on the second-largest class.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71616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71616" y="960120"/>
            <a:ext cx="2743200" cy="6400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09728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63056" y="1691640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B8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4600" dirty="0"/>
          </a:p>
        </p:txBody>
      </p:sp>
      <p:sp>
        <p:nvSpPr>
          <p:cNvPr id="25" name="Text 20"/>
          <p:cNvSpPr/>
          <p:nvPr/>
        </p:nvSpPr>
        <p:spPr>
          <a:xfrm>
            <a:off x="6163056" y="24871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163056" y="2798064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Reviews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163056" y="3200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B8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11%  ·  Recall: 43%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08776" y="35204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performance due to severe underrepresentation (only 4.2% of data).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&amp;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51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Imbalance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 Negative class bias forced models to predict majority. Macro F1 was chosen over accuracy as primary metric.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64008" cy="17830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051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148132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Negation words and intensity terms (worst, best, terrible, excellent) proved most discriminative across all models.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880360"/>
            <a:ext cx="64008" cy="17830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971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Trade-offs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40156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Regression: best Macro F1 + interpretability. SVM: highest accuracy. Gradient Boosting: best precision, slowest.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8803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880360"/>
            <a:ext cx="64008" cy="17830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30175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971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Class Challenge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92040" y="3401568"/>
            <a:ext cx="388620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= 43% for Neutral. Suggests need for SMOTE oversampling, cost-sensitive learning, or a dedicated binary classifier.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 &amp; Conclusions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078992"/>
            <a:ext cx="502920" cy="5029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Balancing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SMOTE or class weighting to boost Neutral class recall from current 43%.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91256" y="107899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32888" y="16642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06654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sentiment lexicons (VADER, SentiWordNet) and pre-trained word embeddings.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96012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960120"/>
            <a:ext cx="20116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8384" y="107899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16642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206654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 with LSTM or transformer architectures (BERT) for richer context understanding.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75704" y="96012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75704" y="960120"/>
            <a:ext cx="2011680" cy="6400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25512" y="1078992"/>
            <a:ext cx="502920" cy="50292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67144" y="16642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Cross-Domain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67144" y="2066544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model generalisation across different product categories and review platforms.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85953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63240"/>
            <a:ext cx="91440" cy="1645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12724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" y="3547872"/>
            <a:ext cx="8229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ML with TF-IDF and linguistic features achieved reasonable performance (Macro F1 = 0.619), demonstrating viability for sentiment classification without deep learning. Logistic Regression provided the best balance of metrics and interpretability, making it the recommended production model for this task.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371600" lvl="3" indent="45720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DEPLOYMENT (STREAMLIT) APP 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91256" y="1078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83480"/>
            <a:ext cx="777240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 ·  ANU GOPAL V  ·  RASHA K K  ·  MUHAMMED SHAHID 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" y="800348"/>
            <a:ext cx="4495596" cy="210389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6" y="800983"/>
            <a:ext cx="4495596" cy="2103893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680" y="2904490"/>
            <a:ext cx="5129530" cy="22167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097A7">
              <a:alpha val="20000"/>
            </a:srgbClr>
          </a:solidFill>
          <a:ln w="12700">
            <a:solidFill>
              <a:srgbClr val="0097A7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94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the Model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55448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the Live Sentiment Analysis Classifier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766560" cy="594360"/>
          </a:xfrm>
          <a:prstGeom prst="rect">
            <a:avLst/>
          </a:prstGeom>
          <a:solidFill>
            <a:srgbClr val="0D2137"/>
          </a:solidFill>
          <a:ln w="19050">
            <a:solidFill>
              <a:srgbClr val="0097A7"/>
            </a:solidFill>
            <a:prstDash val="solid"/>
          </a:ln>
        </p:spPr>
        <p:txBody>
          <a:bodyPr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517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542032"/>
            <a:ext cx="6126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7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https://sentiment-analysis-appuct-reviews-qpygnmqthyutgevfmux9bf.streamlit.app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148840" y="3383280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23160" y="335584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review analysis with confidence scores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148840" y="3776472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23160" y="374904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CSV upload &amp; bulk prediction download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148840" y="4169664"/>
            <a:ext cx="164592" cy="16459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23160" y="414223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visualisations and model metrics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97A7">
              <a:alpha val="18000"/>
            </a:srgbClr>
          </a:solidFill>
          <a:ln w="12700">
            <a:solidFill>
              <a:srgbClr val="0097A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40280"/>
            <a:ext cx="9144000" cy="290322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536192"/>
            <a:ext cx="2286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of Product Reviews · AY 2025–26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Course  ·  Academic Year 2025–26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8561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7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https://sentiment-analysis-appuct-reviews-qpygnmqthyutgevfmux9bf.streamlit.app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169664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TF-IDF · Logistic Regression · Linear SVM · Multinomial NB · Gradient Boosting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7278</Words>
  <Application>WPS Presentation</Application>
  <PresentationFormat>On-screen Show (16:9)</PresentationFormat>
  <Paragraphs>386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MuseoModerno Medium</vt:lpstr>
      <vt:lpstr>Segoe Print</vt:lpstr>
      <vt:lpstr>MuseoModerno Medium</vt:lpstr>
      <vt:lpstr>MuseoModerno Medium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Product Reviews</dc:title>
  <dc:creator>PptxGenJS</dc:creator>
  <dc:subject>PptxGenJS Presentation</dc:subject>
  <cp:lastModifiedBy>shemi</cp:lastModifiedBy>
  <cp:revision>3</cp:revision>
  <dcterms:created xsi:type="dcterms:W3CDTF">2026-04-22T08:17:00Z</dcterms:created>
  <dcterms:modified xsi:type="dcterms:W3CDTF">2026-05-03T17:49:40Z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92CC3F2CA5264F6784FC1F3F51428B39_12</vt:lpwstr>
  </property>
</Properties>
</file>